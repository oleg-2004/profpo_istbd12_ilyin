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roximaNova-bold.fntdata"/><Relationship Id="rId10" Type="http://schemas.openxmlformats.org/officeDocument/2006/relationships/slide" Target="slides/slide5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412e225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412e225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cc46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cc46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4412e225c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4412e225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412e225c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4412e225c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4412e225c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4412e225c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412e225c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412e225c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cc46e5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6cc46e5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cc46e51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6cc46e5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6cc46e5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6cc46e5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4412e225c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4412e225c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4412e225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4412e225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412e225c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412e225c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412e225c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4412e225c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412e225c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4412e225c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1222050" y="217700"/>
            <a:ext cx="66999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80"/>
              <a:t>Презентация по дисциплине:</a:t>
            </a:r>
            <a:endParaRPr sz="25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80"/>
              <a:t>"Основы российской государственности"</a:t>
            </a:r>
            <a:endParaRPr sz="25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Тема: "Дмитрий Иванович Менделеев и его роль в развитии российской науки"</a:t>
            </a:r>
            <a:endParaRPr sz="2500"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2776575" y="4617850"/>
            <a:ext cx="3766500" cy="8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7F8FC"/>
              </a:solidFill>
              <a:highlight>
                <a:srgbClr val="2323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60">
                <a:solidFill>
                  <a:srgbClr val="F7F8FC"/>
                </a:solidFill>
                <a:highlight>
                  <a:srgbClr val="232326"/>
                </a:highlight>
                <a:latin typeface="Arial"/>
                <a:ea typeface="Arial"/>
                <a:cs typeface="Arial"/>
                <a:sym typeface="Arial"/>
              </a:rPr>
              <a:t>Ульяновск, 2026</a:t>
            </a:r>
            <a:endParaRPr sz="1860">
              <a:solidFill>
                <a:srgbClr val="F7F8FC"/>
              </a:solidFill>
              <a:highlight>
                <a:srgbClr val="2323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7F8FC"/>
              </a:solidFill>
              <a:highlight>
                <a:srgbClr val="23232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5274000" y="3139275"/>
            <a:ext cx="37656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7F8FC"/>
                </a:solidFill>
                <a:highlight>
                  <a:srgbClr val="232326"/>
                </a:highlight>
                <a:latin typeface="Arial"/>
                <a:ea typeface="Arial"/>
                <a:cs typeface="Arial"/>
                <a:sym typeface="Arial"/>
              </a:rPr>
              <a:t>Презентацию подготовил студент </a:t>
            </a:r>
            <a:endParaRPr sz="1300">
              <a:solidFill>
                <a:srgbClr val="F7F8FC"/>
              </a:solidFill>
              <a:highlight>
                <a:srgbClr val="2323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7F8FC"/>
                </a:solidFill>
                <a:highlight>
                  <a:srgbClr val="232326"/>
                </a:highlight>
                <a:latin typeface="Arial"/>
                <a:ea typeface="Arial"/>
                <a:cs typeface="Arial"/>
                <a:sym typeface="Arial"/>
              </a:rPr>
              <a:t>группы ИСТбд-12</a:t>
            </a:r>
            <a:endParaRPr sz="1300">
              <a:solidFill>
                <a:srgbClr val="F7F8FC"/>
              </a:solidFill>
              <a:highlight>
                <a:srgbClr val="2323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7F8FC"/>
                </a:solidFill>
                <a:highlight>
                  <a:srgbClr val="232326"/>
                </a:highlight>
                <a:latin typeface="Arial"/>
                <a:ea typeface="Arial"/>
                <a:cs typeface="Arial"/>
                <a:sym typeface="Arial"/>
              </a:rPr>
              <a:t>Ильин Олег</a:t>
            </a:r>
            <a:endParaRPr sz="1300">
              <a:solidFill>
                <a:srgbClr val="F7F8FC"/>
              </a:solidFill>
              <a:highlight>
                <a:srgbClr val="23232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7F8FC"/>
                </a:solidFill>
                <a:highlight>
                  <a:srgbClr val="232326"/>
                </a:highlight>
                <a:latin typeface="Arial"/>
                <a:ea typeface="Arial"/>
                <a:cs typeface="Arial"/>
                <a:sym typeface="Arial"/>
              </a:rPr>
              <a:t>Преподаватель: Стеклова Ольга Евгеньевна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136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Биография Дмитрия Ивановича Менделеева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863550"/>
            <a:ext cx="8520600" cy="40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Дмитрий Иванович Менделеев родился 27 января (8 февраля) 1834 года в Тобольске и был последним, семнадцатым по счёту ребёнком в семье директора Тобольской гимназии.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Семья жила скромно. Отец ослеп, и мать была вынуждена управлять стекольным заводом. В 1847 году, когда Дмитрию было 13 лет, отец умер, а завод сгорел. Мать с младшим сыном отправилась в Москву, затем в Петербург, чтобы дать сыну образование.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Менделеев поступил на физико-математический факультет Главного педагогического института в Петербурге. Окончил институт в 1855 году с золотой медалью.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252050" y="110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Семья Менделеева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252050" y="683575"/>
            <a:ext cx="8520600" cy="42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Первый брак (1862): Феозва Никитична Лещева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Три ребёнка: сын Владимир (умер молодым), дочь Ольга и сын Иван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Второй брак (1882): Анна Ивановна Попова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Была на 25 лет моложе Менделеева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Четверо детей: дочь Любовь, сын Василий, близнецы Иван и Мария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Анна Ивановна стала верной помощницей учёного, вела его архив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Семейные ценности: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Менделеев был заботливым отцом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Старался дать детям прекрасное образование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Сын Иван стал известным кораблестроителем</a:t>
            </a:r>
            <a:endParaRPr sz="1890">
              <a:latin typeface="Arial"/>
              <a:ea typeface="Arial"/>
              <a:cs typeface="Arial"/>
              <a:sym typeface="Arial"/>
            </a:endParaRPr>
          </a:p>
          <a:p>
            <a:pPr indent="-34861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90"/>
              <a:buFont typeface="Arial"/>
              <a:buChar char="●"/>
            </a:pPr>
            <a:r>
              <a:rPr lang="ru" sz="1890">
                <a:latin typeface="Arial"/>
                <a:ea typeface="Arial"/>
                <a:cs typeface="Arial"/>
                <a:sym typeface="Arial"/>
              </a:rPr>
              <a:t>Дочь Ольга стала художницей</a:t>
            </a:r>
            <a:endParaRPr sz="189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29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Научная карьера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863550"/>
            <a:ext cx="8520600" cy="40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В 1859 году Менделеев отправился в двухлетнюю научную командировку в Германию (Гейдельберг), где работал в лаборатории Бунзена. Именно в этот период он заинтересовался проблемой периодичности химических элементов.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В 1863 году Менделеев был избран профессором Петербургского университета. Он читал лекции по органической, неорганической и технической химии.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В 1882 году Лондонское королевское общество присудило Менделееву медаль Дэви за открытие периодического закона. В 1905 году он был удостоен высшей награды — медали Копли.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latin typeface="Arial"/>
                <a:ea typeface="Arial"/>
                <a:cs typeface="Arial"/>
                <a:sym typeface="Arial"/>
              </a:rPr>
              <a:t>Менделеев умер 20 января (2 февраля) 1907 года в Санкт-Петербурге от воспаления лёгких.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229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Вклад Дмитрия Ивановича Менделеева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906775"/>
            <a:ext cx="8520600" cy="4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730">
                <a:latin typeface="Arial"/>
                <a:ea typeface="Arial"/>
                <a:cs typeface="Arial"/>
                <a:sym typeface="Arial"/>
              </a:rPr>
              <a:t>Открытие периодического закона химических элементов</a:t>
            </a:r>
            <a:endParaRPr sz="173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730">
                <a:latin typeface="Arial"/>
                <a:ea typeface="Arial"/>
                <a:cs typeface="Arial"/>
                <a:sym typeface="Arial"/>
              </a:rPr>
              <a:t>Работая над учебником «Основы химии», Менделеев начал упорядочивать элементы по их атомным массам и химическим свойствам.</a:t>
            </a:r>
            <a:endParaRPr sz="173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730">
                <a:latin typeface="Arial"/>
                <a:ea typeface="Arial"/>
                <a:cs typeface="Arial"/>
                <a:sym typeface="Arial"/>
              </a:rPr>
              <a:t>1 марта (17 февраля по старому стилю) 1869 года считается официальной датой открытия периодической системы химических элементов. </a:t>
            </a:r>
            <a:endParaRPr sz="173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730">
                <a:latin typeface="Arial"/>
                <a:ea typeface="Arial"/>
                <a:cs typeface="Arial"/>
                <a:sym typeface="Arial"/>
              </a:rPr>
              <a:t>В этот день Менделеев представил свою работу Русскому химическому обществу.</a:t>
            </a:r>
            <a:endParaRPr sz="173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730">
                <a:latin typeface="Arial"/>
                <a:ea typeface="Arial"/>
                <a:cs typeface="Arial"/>
                <a:sym typeface="Arial"/>
              </a:rPr>
              <a:t>В августе 1871 года вышла статья «Периодическая закономерность химических элементов», в которой периодическая таблица приняла вполне современный вид.</a:t>
            </a:r>
            <a:endParaRPr sz="173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ru" sz="1730">
                <a:latin typeface="Arial"/>
                <a:ea typeface="Arial"/>
                <a:cs typeface="Arial"/>
                <a:sym typeface="Arial"/>
              </a:rPr>
              <a:t>Менделеев не только систематизировал известные элементы, но и предсказал существование ещё не открытых, оставив для них пустые места в таблице.</a:t>
            </a:r>
            <a:endParaRPr sz="173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5" y="0"/>
            <a:ext cx="9096924" cy="50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03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научные достижения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69475" y="863550"/>
            <a:ext cx="9074400" cy="40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1. Физическая химия и теория растворов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Вкладом Менделеева стала разработка оригинального учения о растворах, что составило крупнейший вклад в физическую химию.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2. Метрология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Менделеев стал предтечей современной метрологии, в частности химической метрологии. Он создал точную теорию весов, разработал наилучшие конструкции измерительных приборов.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3. Исследование нефти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Менделеев внёс важные идеи в изучение нефти, разработал технологию её перегонки, предложил идею подземной газификации угля.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4. Авиация и воздухоплавание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Учёный занимался вопросами сопротивления воздуха, разработал проект управляемого аэростата.</a:t>
            </a:r>
            <a:endParaRPr sz="149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71350" y="5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Бездымный порох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623925"/>
            <a:ext cx="8520600" cy="4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Военные исследования Менделеева: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В 1890-х годах Менделеев занялся разработкой бездымного пороха по заданию Морского технического комитета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Основные достижения: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Изучил свойства пироксилина и нитроглицерина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Разработал рецепт бездымного пороха на основе пироксилина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Предложил технологию производства, превосходящую зарубежные аналоги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Создал порох, который не давал дыма при выстреле, что было революционным для того времени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Значение: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Укрепление обороноспособности России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Развитие отечественной военной промышленности</a:t>
            </a:r>
            <a:endParaRPr sz="1665">
              <a:latin typeface="Arial"/>
              <a:ea typeface="Arial"/>
              <a:cs typeface="Arial"/>
              <a:sym typeface="Arial"/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65"/>
              <a:buFont typeface="Arial"/>
              <a:buChar char="●"/>
            </a:pPr>
            <a:r>
              <a:rPr lang="ru" sz="1665">
                <a:latin typeface="Arial"/>
                <a:ea typeface="Arial"/>
                <a:cs typeface="Arial"/>
                <a:sym typeface="Arial"/>
              </a:rPr>
              <a:t>Менделеев доказал возможность создания качественного отечественного пороха</a:t>
            </a:r>
            <a:endParaRPr sz="166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Палата мер и весов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572700"/>
            <a:ext cx="8520600" cy="4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Главная палата мер и весов (1893):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В 1893 году Менделеев был назначен управляющим вновь созданной Главной палатой мер и весов в Санкт-Петербурге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Основные достижения: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Создал первую в России научную метрологическую лабораторию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Разработал эталоны веса и меры для всей страны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Ввёл точную систему измерений, соответствующую международным стандартам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Создал школу русских метрологов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Разработал точные весы и измерительные приборы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Значение: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Унификация системы измерений в России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Развитие торговли и промышленности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Создание научной основы метрологии</a:t>
            </a:r>
            <a:endParaRPr sz="1625">
              <a:latin typeface="Arial"/>
              <a:ea typeface="Arial"/>
              <a:cs typeface="Arial"/>
              <a:sym typeface="Arial"/>
            </a:endParaRPr>
          </a:p>
          <a:p>
            <a:pPr indent="-33178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25"/>
              <a:buFont typeface="Arial"/>
              <a:buChar char="●"/>
            </a:pPr>
            <a:r>
              <a:rPr lang="ru" sz="1625">
                <a:latin typeface="Arial"/>
                <a:ea typeface="Arial"/>
                <a:cs typeface="Arial"/>
                <a:sym typeface="Arial"/>
              </a:rPr>
              <a:t>Палата стала центром метрологической науки</a:t>
            </a:r>
            <a:endParaRPr sz="162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Нобелевская премия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572700"/>
            <a:ext cx="8520600" cy="4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Незаслуженное непризнание: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Менделеев НЕ получил Нобелевскую премию, хотя был номинирован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История номинаций: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1905 год — первая номинация на Нобелевскую премию по химии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1906 год — повторная номинация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Шведская королевская академия наук отдала предпочтение французскому химику Анри Муассану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Причины: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Конкуренция с другими учёными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Политические интриги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Недооценка значимости периодического закона в то время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Историческая справедливость: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Открытие Менделеева признано одним из величайших в истории науки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Элемент №101 назван менделевием (Md) в его честь</a:t>
            </a:r>
            <a:endParaRPr sz="1495">
              <a:latin typeface="Arial"/>
              <a:ea typeface="Arial"/>
              <a:cs typeface="Arial"/>
              <a:sym typeface="Arial"/>
            </a:endParaRPr>
          </a:p>
          <a:p>
            <a:pPr indent="-3235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Arial"/>
              <a:buChar char="●"/>
            </a:pPr>
            <a:r>
              <a:rPr lang="ru" sz="1495">
                <a:latin typeface="Arial"/>
                <a:ea typeface="Arial"/>
                <a:cs typeface="Arial"/>
                <a:sym typeface="Arial"/>
              </a:rPr>
              <a:t>Периодическая система — фундамент современной химии</a:t>
            </a:r>
            <a:endParaRPr sz="149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0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Экономический и промышленный вклад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863550"/>
            <a:ext cx="8520600" cy="4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Экономическая политика и развитие промышленности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Менделеев активно участвовал в развитии российской экономики и промышленности. Он изучал вопросы организации производства, тарифной политики.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Благодаря Менделееву: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Были разработаны научные основы нефтеперерабатывающей промышленности России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Созданы рекомендации по развитию уральской металлургии и добычи полезных ископаемых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Разработаны предложения по совершенствованию железнодорожного транспорта и тарифов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Создана система точных измерений в промышленности и торговле, что способствовало развитию экономики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164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Общественная и педагогическая деятельность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863550"/>
            <a:ext cx="8520600" cy="41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Педагогический вклад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Менделеев выпустил более 1,5 тысячи трудов по самым разным областям науки.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Его учебник «Основы химии» выдержал множество изданий и стал классическим.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Общественная деятельность: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Активно боролся за автономию университетов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Выступал за доступность образования для всех слоёв населения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Участвовал в разработке образовательных стандартов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Пропагандировал достижения науки в обществе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Менделеев считал, что просвещение и наука — основа прогресса России. Его девиз: «Науку с её истиной..., родину со всеми её нераздельнейшими богатствами»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67725" y="164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Значение открытий Менделеева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67725" y="737575"/>
            <a:ext cx="8520600" cy="4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Периодический закон — фундамент современной химии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Периодическая система стала универсальным языком химии.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Открытие Менделеева оказало огромное влияние на развитие: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Органической химии — позволило предсказывать свойства новых соединений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Аналитической химии — дало систему для классификации элементов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Физики — привело к открытию строения атома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Техники и промышленности — облегчило поиск и применение материалов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Таблица Менделеева — это не просто классификация, а закон природы, показывающий периодическую зависимость свойств элементов от их атомной массы (позже — от заряда ядра)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10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Память о Менделееве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807525"/>
            <a:ext cx="8520600" cy="41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Имя Менделеева увековечено: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• Географические объекты: город Менделеевск в Татарстане, станции, улицы во многих городах России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• Образование: Московский государственный университет тонких химических технологий имени Менделеева (МХТИ), Тобольский химико-технологический колледж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• Наука: Институт метрологии имени Менделеева в Санкт-Петербурге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• 101-й элемент периодической системы назван менделевием (Md) в честь учёного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• Музеи: дом-музей в Тобольске, мемориальные квартиры в Санкт-Петербурге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• Памятники установлены во многих городах России и мира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23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863550"/>
            <a:ext cx="8520600" cy="4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Дмитрий Иванович Менделеев — гениальный русский учёный-энциклопедист: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Открыл периодический закон химических элементов — одно из фундаментальных открытий в истории науки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Внёс крупный вклад в развитие физической химии, метрологии, экономики, промышленности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Создал научные школы, воспитал поколения учёных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Активно работал на благо России, считая науку и образование основой прогресса страны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Его имя навсегда вошло в историю мировой науки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"Периодическому закону будущее не грозит разрушением, а только надстройки и развития обещает" — Д.И. Менделеев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